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076450"/>
            <a:ext cx="1804541" cy="352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499" y="2657475"/>
            <a:ext cx="10270671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62"/>
              </a:lnSpc>
            </a:pPr>
            <a:r>
              <a:rPr sz="4050" b="1" i="0" u="none" dirty="0" err="1">
                <a:solidFill>
                  <a:srgbClr val="0F172A"/>
                </a:solidFill>
                <a:latin typeface="Noto Sans JP"/>
              </a:rPr>
              <a:t>キャリア教育の系統的展開と</a:t>
            </a:r>
            <a:r>
              <a:rPr dirty="0"/>
              <a:t>
</a:t>
            </a:r>
            <a:r>
              <a:rPr sz="4050" b="1" i="0" u="none" dirty="0">
                <a:solidFill>
                  <a:srgbClr val="0F172A"/>
                </a:solidFill>
                <a:latin typeface="Noto Sans JP"/>
              </a:rPr>
              <a:t> 「</a:t>
            </a:r>
            <a:r>
              <a:rPr sz="4050" b="1" i="0" u="none" dirty="0" err="1">
                <a:solidFill>
                  <a:srgbClr val="0F172A"/>
                </a:solidFill>
                <a:latin typeface="Noto Sans JP"/>
              </a:rPr>
              <a:t>お仕事ノート・ブック」の役割</a:t>
            </a:r>
            <a:endParaRPr sz="4050" b="1" i="0" u="none" dirty="0">
              <a:solidFill>
                <a:srgbClr val="0F172A"/>
              </a:solidFill>
              <a:latin typeface="Noto Sans JP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5943" y="4131646"/>
            <a:ext cx="11745685" cy="58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 err="1">
                <a:solidFill>
                  <a:srgbClr val="64748B"/>
                </a:solidFill>
                <a:latin typeface="Noto Sans JP"/>
              </a:rPr>
              <a:t>小学校から高等学校までの発達段階に応じた一貫ストーリーと</a:t>
            </a:r>
            <a:r>
              <a:rPr sz="1500" b="0" i="0" u="none" dirty="0">
                <a:solidFill>
                  <a:srgbClr val="64748B"/>
                </a:solidFill>
                <a:latin typeface="Noto Sans JP"/>
              </a:rPr>
              <a:t>、</a:t>
            </a:r>
            <a:endParaRPr lang="en-US" sz="1500" b="0" i="0" u="none" dirty="0">
              <a:solidFill>
                <a:srgbClr val="64748B"/>
              </a:solidFill>
              <a:latin typeface="Noto Sans JP"/>
            </a:endParaRPr>
          </a:p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64748B"/>
                </a:solidFill>
                <a:latin typeface="Noto Sans JP"/>
              </a:rPr>
              <a:t>小3・中2における効果的なキャリア教材の導入エビデンス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67201" y="2452687"/>
            <a:ext cx="125759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4F46E5"/>
                </a:solidFill>
                <a:latin typeface="Plus Jakarta Sans"/>
              </a:rPr>
              <a:t>CHAPTER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5606" y="2767012"/>
            <a:ext cx="6300787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Noto Sans JP"/>
              </a:rPr>
              <a:t>キャリア教育の全体像と理念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2250" y="3795712"/>
            <a:ext cx="66675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64748B"/>
                </a:solidFill>
                <a:latin typeface="Noto Sans JP"/>
              </a:rPr>
              <a:t>一人ひとりの社会的・職業的自立に向け、発達段階に応じて段階的に勤労観・職業観を育む12年間の体系的プログラム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71898"/>
            <a:ext cx="5381625" cy="23883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571898"/>
            <a:ext cx="5381625" cy="23883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2886223"/>
            <a:ext cx="1229469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4190" y="3229123"/>
            <a:ext cx="4719339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4F46E5"/>
                </a:solidFill>
                <a:latin typeface="Noto Sans JP"/>
              </a:rPr>
              <a:t>社会への「気づき」のスタート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610123"/>
            <a:ext cx="4752975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1E293B"/>
                </a:solidFill>
                <a:latin typeface="Noto Sans JP"/>
              </a:rPr>
              <a:t>社会科学習の開始とともに広がる視点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69084"/>
            <a:ext cx="47529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Noto Sans JP"/>
              </a:rPr>
              <a:t>1・2年での「自分と家族」を中心とした身近な生活から、3年生で地域社会や様々な職業へと視野を一気に拡張。「世の中にはたくさんの仕事がある」というワクワクした気づきを創出します。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2886223"/>
            <a:ext cx="1600944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1565" y="3229123"/>
            <a:ext cx="4719339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4F46E5"/>
                </a:solidFill>
                <a:latin typeface="Noto Sans JP"/>
              </a:rPr>
              <a:t>社会のリアルと向き合う集大成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610123"/>
            <a:ext cx="4752975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1E293B"/>
                </a:solidFill>
                <a:latin typeface="Noto Sans JP"/>
              </a:rPr>
              <a:t>職場体験を通じた最大の成果発表の場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3869084"/>
            <a:ext cx="47529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Noto Sans JP"/>
              </a:rPr>
              <a:t>小学校から蓄積した「仕事への関心」を、5日間の職場体験で実践・検証。中3での受験対策（進路選択）期に入る前に、社会の現実と自分をぶつけ、学びの価値を腹落ちさせます。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3267223"/>
            <a:ext cx="163115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3267223"/>
            <a:ext cx="163115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1E293B"/>
                </a:solidFill>
                <a:latin typeface="Noto Sans JP"/>
              </a:rPr>
              <a:t>義務教育9年間のストーリー構造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86484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94508"/>
            <a:ext cx="3530500" cy="2543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600" y="2494508"/>
            <a:ext cx="3530649" cy="2543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850" y="2494508"/>
            <a:ext cx="3530500" cy="2543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770733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475583"/>
            <a:ext cx="162270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Noto Sans JP"/>
              </a:rPr>
              <a:t>低学年（1・2年）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847058"/>
            <a:ext cx="1428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1E293B"/>
                </a:solidFill>
                <a:latin typeface="Noto Sans JP"/>
              </a:rPr>
              <a:t>学校適応と身近な役割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075658"/>
            <a:ext cx="29780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Noto Sans JP"/>
              </a:rPr>
              <a:t>学校生活への適応を図り、飼育栽培や日直活動を通じて、集団における自分の役割と好きなことの発見につなげます。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6825" y="2770733"/>
            <a:ext cx="514350" cy="514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06825" y="3475583"/>
            <a:ext cx="162270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Noto Sans JP"/>
              </a:rPr>
              <a:t>中学年（3・4年）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6825" y="3847058"/>
            <a:ext cx="1285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1E293B"/>
                </a:solidFill>
                <a:latin typeface="Noto Sans JP"/>
              </a:rPr>
              <a:t>地域探検と協力関係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6825" y="4075658"/>
            <a:ext cx="29781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Noto Sans JP"/>
              </a:rPr>
              <a:t>地域社会の見学やグループでの調べ学習を通じ、自己の良さを自覚し他者と協力する人間関係の基礎を築きます。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075" y="2770733"/>
            <a:ext cx="514350" cy="514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66075" y="3475583"/>
            <a:ext cx="162270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Noto Sans JP"/>
              </a:rPr>
              <a:t>高学年（5・6年）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075" y="3847058"/>
            <a:ext cx="1285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1E293B"/>
                </a:solidFill>
                <a:latin typeface="Noto Sans JP"/>
              </a:rPr>
              <a:t>責任遂行と夢の形成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075" y="4075658"/>
            <a:ext cx="29780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Noto Sans JP"/>
              </a:rPr>
              <a:t>委員会・クラブ活動での役割遂行や地域の職業人を招く出前授業を通じ、将来の夢や希望を具体化させます。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900" y="2913608"/>
            <a:ext cx="177849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5001" y="2913608"/>
            <a:ext cx="177849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34251" y="2913608"/>
            <a:ext cx="177849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1E293B"/>
                </a:solidFill>
                <a:latin typeface="Noto Sans JP"/>
              </a:rPr>
              <a:t>小学校：社会や働くことへの「関心」の育成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86484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56345"/>
            <a:ext cx="5381625" cy="1019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127920"/>
            <a:ext cx="5381625" cy="1019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299495"/>
            <a:ext cx="5381625" cy="1019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956345"/>
            <a:ext cx="5381625" cy="3619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0100" y="2108745"/>
            <a:ext cx="521065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Noto Sans JP"/>
              </a:rPr>
              <a:t>1. 社会科授業の開始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365920"/>
            <a:ext cx="49625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Noto Sans JP"/>
              </a:rPr>
              <a:t>3年より「社会科」がスタート。店舗や工場などの見学を通じて「街が誰かの仕事で成り立っている」と初めて実感します。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280320"/>
            <a:ext cx="521065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Noto Sans JP"/>
              </a:rPr>
              <a:t>2. 視野の拡張（家族から地域・社会へ）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537495"/>
            <a:ext cx="49625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Noto Sans JP"/>
              </a:rPr>
              <a:t>低学年での「家族・先生」など身近な対象から、「街で働く人々」へ関心が大きく拡がるターニングポイントです。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451895"/>
            <a:ext cx="521065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Noto Sans JP"/>
              </a:rPr>
              <a:t>3. 国語科など他教科との強力な連動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709070"/>
            <a:ext cx="49625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Noto Sans JP"/>
              </a:rPr>
              <a:t>「働く人へのインタビュー」「工夫の報告」など国語の単元と連動し、言語能力とキャリア教育を同時育成します。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965870"/>
            <a:ext cx="5362575" cy="3600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1E293B"/>
                </a:solidFill>
                <a:latin typeface="Noto Sans JP"/>
              </a:rPr>
              <a:t>小3「お仕事ノート」導入のエビデンス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86484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32570"/>
            <a:ext cx="11049000" cy="895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18420"/>
            <a:ext cx="11049000" cy="895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404270"/>
            <a:ext cx="11049000" cy="895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432595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518445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4604295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058" y="2546895"/>
            <a:ext cx="148232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19225" y="2432595"/>
            <a:ext cx="78009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Noto Sans JP"/>
              </a:rPr>
              <a:t>中学1年生：環境適応と自己理解の深まり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9225" y="2699295"/>
            <a:ext cx="7429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Noto Sans JP"/>
              </a:rPr>
              <a:t>部活動や定期テストなど新しい生活に適応しつつ、自身の得意・不得意の分析や家族への仕事インタビューを実施。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5058" y="3632745"/>
            <a:ext cx="148232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19225" y="3518445"/>
            <a:ext cx="81844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Noto Sans JP"/>
              </a:rPr>
              <a:t>中学2年生：職業観の形成と職場体験の実施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9225" y="3785145"/>
            <a:ext cx="77947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Noto Sans JP"/>
              </a:rPr>
              <a:t>数日間の職場体験活動を中心に、事前マナー講習から事後発表まで1年を通して社会のリアルとビジネスの基礎に触れる。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5058" y="4718595"/>
            <a:ext cx="148232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19225" y="4604295"/>
            <a:ext cx="720105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Noto Sans JP"/>
              </a:rPr>
              <a:t>中学3年生：進路計画の立案と暫定的な選択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9225" y="4870995"/>
            <a:ext cx="68581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Noto Sans JP"/>
              </a:rPr>
              <a:t>高校調べやOB・OG講演会、面接練習などを通じて、現実的な進路選択に向けた具体的な将来設計を行う。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1E293B"/>
                </a:solidFill>
                <a:latin typeface="Noto Sans JP"/>
              </a:rPr>
              <a:t>中学校：現実社会に触れ「勤労観」の土台を作る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86484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99233"/>
            <a:ext cx="5334000" cy="790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42208"/>
            <a:ext cx="5334000" cy="1019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313783"/>
            <a:ext cx="5334000" cy="10191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5800725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1E293B"/>
                </a:solidFill>
                <a:latin typeface="Noto Sans JP"/>
              </a:rPr>
              <a:t>中2「お仕事ブック」活用の意義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71500" y="96009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" y="2351633"/>
            <a:ext cx="516064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Noto Sans JP"/>
              </a:rPr>
              <a:t>義務教育最大の体験「職場体験」の核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608808"/>
            <a:ext cx="49149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Noto Sans JP"/>
              </a:rPr>
              <a:t>事前準備から振り返りまで、探究的な職場体験を支える必須のツールです。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294608"/>
            <a:ext cx="516064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Noto Sans JP"/>
              </a:rPr>
              <a:t>中3の「受験（進路）」化前の決定的な節目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551783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Noto Sans JP"/>
              </a:rPr>
              <a:t>受検対策に追われる中3の前に、純粋に「社会や生き方」を考える最後の機会です。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4466183"/>
            <a:ext cx="516064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Noto Sans JP"/>
              </a:rPr>
              <a:t>自己意識の芽生え（中2病）に対する解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723358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Noto Sans JP"/>
              </a:rPr>
              <a:t>「なぜ勉強するのか」という葛藤に対し、本物の社会と出会うことで納得の着地を与えます。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71898"/>
            <a:ext cx="5381625" cy="23883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571898"/>
            <a:ext cx="5381625" cy="23883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2886223"/>
            <a:ext cx="699789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4190" y="3229123"/>
            <a:ext cx="4719339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4F46E5"/>
                </a:solidFill>
                <a:latin typeface="Noto Sans JP"/>
              </a:rPr>
              <a:t>探索と課題解決探究（PBL）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610123"/>
            <a:ext cx="4752975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1E293B"/>
                </a:solidFill>
                <a:latin typeface="Noto Sans JP"/>
              </a:rPr>
              <a:t>文理選択・適性検査・インターンシップ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69084"/>
            <a:ext cx="47529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Noto Sans JP"/>
              </a:rPr>
              <a:t>高校生活への適応から大学等の模擬授業体験を経て、企業でのインターンや地域と連携したPBL（課題解決型学習）を実施。主体的・協働的に社会課題へアプローチします。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2886223"/>
            <a:ext cx="383232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1565" y="3229123"/>
            <a:ext cx="4719339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4F46E5"/>
                </a:solidFill>
                <a:latin typeface="Noto Sans JP"/>
              </a:rPr>
              <a:t>進路決定とスムーズな社会移行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610123"/>
            <a:ext cx="4752975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1E293B"/>
                </a:solidFill>
                <a:latin typeface="Noto Sans JP"/>
              </a:rPr>
              <a:t>個別の進路指導・志望理由書・マナー習得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3869084"/>
            <a:ext cx="47529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Noto Sans JP"/>
              </a:rPr>
              <a:t>自己PRや志望理由書の作成、社会人マナーの習得を通じて進路決定を果たすとともに、社会的・職業的自立に向けた具体的な移行準備を完結させます。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3267223"/>
            <a:ext cx="163115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3267223"/>
            <a:ext cx="163115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1E293B"/>
                </a:solidFill>
                <a:latin typeface="Noto Sans JP"/>
              </a:rPr>
              <a:t>高校：将来の「自立」に向けた挑戦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86484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80258"/>
            <a:ext cx="3619500" cy="1971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3453556"/>
            <a:ext cx="6953250" cy="781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0" y="4348906"/>
            <a:ext cx="6953250" cy="7810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7250" y="3161258"/>
            <a:ext cx="3048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750"/>
              </a:lnSpc>
            </a:pPr>
            <a:r>
              <a:rPr sz="6750" b="1" i="0" u="none">
                <a:solidFill>
                  <a:srgbClr val="FFFFFF"/>
                </a:solidFill>
                <a:latin typeface="Plus Jakarta Sans"/>
              </a:rPr>
              <a:t>K-12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4113758"/>
            <a:ext cx="3048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C7D2FE"/>
                </a:solidFill>
                <a:latin typeface="Noto Sans JP"/>
              </a:rPr>
              <a:t>小・中・高12年間の学びの蓄積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7250" y="2402234"/>
            <a:ext cx="730091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Noto Sans JP"/>
              </a:rPr>
              <a:t>自らの成長プロセスを自覚するポートフォリオ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0" y="2783234"/>
            <a:ext cx="695325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Noto Sans JP"/>
              </a:rPr>
              <a:t>小学校から高等学校まで通じて、児童生徒が自らの学びのプロセスや目標、振り返りを記録・蓄積する共通のツールです。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8225" y="3596431"/>
            <a:ext cx="555069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Noto Sans JP"/>
              </a:rPr>
              <a:t>自己省察（リフレクション）の習慣化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8225" y="3863131"/>
            <a:ext cx="52863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Noto Sans JP"/>
              </a:rPr>
              <a:t>「学びの足跡」を可視化することで、自らの成長を実感し自己肯定感を高めます。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8225" y="4491781"/>
            <a:ext cx="58507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Noto Sans JP"/>
              </a:rPr>
              <a:t>校種間のスムーズな引き継ぎ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8225" y="4758481"/>
            <a:ext cx="55721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Noto Sans JP"/>
              </a:rPr>
              <a:t>小→中、中→高への接続において、生徒のキャリア発達の歩みを教員間で共有します。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1E293B"/>
                </a:solidFill>
                <a:latin typeface="Noto Sans JP"/>
              </a:rPr>
              <a:t>全学年共通ツール：キャリア・パスポート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86484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37320"/>
            <a:ext cx="11049000" cy="325755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146845"/>
          <a:ext cx="11029948" cy="323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0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Noto Sans JP"/>
                        </a:rPr>
                        <a:t>校種・学年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Noto Sans JP"/>
                        </a:rPr>
                        <a:t>具体的な目標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Noto Sans JP"/>
                        </a:rPr>
                        <a:t>主な取り組み例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Noto Sans JP"/>
                        </a:rPr>
                        <a:t>小 1・2年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JP"/>
                        </a:rPr>
                        <a:t>学校生活への適応、好きなことの発見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JP"/>
                        </a:rPr>
                        <a:t>学校探検、生き物・植物の飼育栽培、日直・係活動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Noto Sans JP"/>
                        </a:rPr>
                        <a:t>小 3・4年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JP"/>
                        </a:rPr>
                        <a:t>協力的な人間関係構築、良さと役割の自覚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JP"/>
                        </a:rPr>
                        <a:t>地域探検、商店街・施設見学（★お仕事ノート配布）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Noto Sans JP"/>
                        </a:rPr>
                        <a:t>小 5・6年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JP"/>
                        </a:rPr>
                        <a:t>役割と責任の遂行、夢や希望の形成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JP"/>
                        </a:rPr>
                        <a:t>委員会・クラブ活動、地域の職業人を招く出前授業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Noto Sans JP"/>
                        </a:rPr>
                        <a:t>中 1年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JP"/>
                        </a:rPr>
                        <a:t>新環境への適応、自己理解の深化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JP"/>
                        </a:rPr>
                        <a:t>得意・不得意の分析、身近な家族への仕事インタビュー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Noto Sans JP"/>
                        </a:rPr>
                        <a:t>中 2年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JP"/>
                        </a:rPr>
                        <a:t>職業観の形成、社会の仕組みの理解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JP"/>
                        </a:rPr>
                        <a:t>数日間の職場体験活動、マナー講座（★お仕事ブック配布）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64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Noto Sans JP"/>
                        </a:rPr>
                        <a:t>高 1〜3年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JP"/>
                        </a:rPr>
                        <a:t>探究学習（PBL）、社会的・職業的自立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JP"/>
                        </a:rPr>
                        <a:t>インターンシップ、文理選択、志望理由書作成、進路決定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3094583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35398" y="3094583"/>
            <a:ext cx="38604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5851" y="3094583"/>
            <a:ext cx="55151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3551783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35398" y="3551783"/>
            <a:ext cx="38604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851" y="3551783"/>
            <a:ext cx="55151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4008983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35398" y="4008983"/>
            <a:ext cx="38604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95851" y="4008983"/>
            <a:ext cx="55151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466183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35398" y="4466183"/>
            <a:ext cx="38604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95851" y="4466183"/>
            <a:ext cx="55151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4923383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35398" y="4923383"/>
            <a:ext cx="38604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95851" y="4923383"/>
            <a:ext cx="55151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1E293B"/>
                </a:solidFill>
                <a:latin typeface="Noto Sans JP"/>
              </a:rPr>
              <a:t>発達段階別 目標と主な取り組み一覧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" y="86484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445" y="3064222"/>
            <a:ext cx="666750" cy="666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21472"/>
            <a:ext cx="1988790" cy="9274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460" y="3064222"/>
            <a:ext cx="666750" cy="666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6515" y="3921472"/>
            <a:ext cx="1988790" cy="92749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2476" y="3064222"/>
            <a:ext cx="666750" cy="666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1530" y="3921472"/>
            <a:ext cx="1988790" cy="7542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7491" y="3064222"/>
            <a:ext cx="666750" cy="666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6545" y="3921472"/>
            <a:ext cx="1988790" cy="927496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2506" y="3064222"/>
            <a:ext cx="666750" cy="6667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31560" y="3921472"/>
            <a:ext cx="1988790" cy="92749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047750" y="3937545"/>
            <a:ext cx="100965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1801" y="4083397"/>
            <a:ext cx="17481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Noto Sans JP"/>
              </a:rPr>
              <a:t>適応と発見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425" y="4340572"/>
            <a:ext cx="166494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Noto Sans JP"/>
              </a:rPr>
              <a:t>学校生活への適応と、自分の役割の気づき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6816" y="4083397"/>
            <a:ext cx="17481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Noto Sans JP"/>
              </a:rPr>
              <a:t>関心の入口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8440" y="4340572"/>
            <a:ext cx="166494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Noto Sans JP"/>
              </a:rPr>
              <a:t>社会科開始と「お仕事ノート」での視野拡大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831" y="4083397"/>
            <a:ext cx="17481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Noto Sans JP"/>
              </a:rPr>
              <a:t>役割と基礎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3455" y="4340572"/>
            <a:ext cx="1664940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Noto Sans JP"/>
              </a:rPr>
              <a:t>責任の遂行と自己理解の深化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6847" y="4083397"/>
            <a:ext cx="17481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Noto Sans JP"/>
              </a:rPr>
              <a:t>実質的出口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8470" y="4340572"/>
            <a:ext cx="166494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Noto Sans JP"/>
              </a:rPr>
              <a:t>職場体験と「お仕事ブック」の活用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1862" y="4083397"/>
            <a:ext cx="17481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Noto Sans JP"/>
              </a:rPr>
              <a:t>進路と自立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3485" y="4340572"/>
            <a:ext cx="166494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Noto Sans JP"/>
              </a:rPr>
              <a:t>具体的な進路選択と社会的自立へ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1E293B"/>
                </a:solidFill>
                <a:latin typeface="Noto Sans JP"/>
              </a:rPr>
              <a:t>キャリア発達のタイムライン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86484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33700"/>
            <a:ext cx="12191999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 dirty="0" err="1">
                <a:solidFill>
                  <a:srgbClr val="0F172A"/>
                </a:solidFill>
                <a:latin typeface="Noto Sans JP"/>
              </a:rPr>
              <a:t>ご清聴ありがとうございました</a:t>
            </a:r>
            <a:endParaRPr sz="3600" b="1" i="0" u="none" dirty="0">
              <a:solidFill>
                <a:srgbClr val="0F172A"/>
              </a:solidFill>
              <a:latin typeface="Noto Sans JP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8343" y="4000500"/>
            <a:ext cx="11430000" cy="58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 err="1">
                <a:solidFill>
                  <a:srgbClr val="64748B"/>
                </a:solidFill>
                <a:latin typeface="Noto Sans JP"/>
              </a:rPr>
              <a:t>一貫したストーリーを持つキャリア教育で、子どもたちの未来を拓く</a:t>
            </a:r>
            <a:endParaRPr lang="en-US" sz="1500" b="0" i="0" u="none" dirty="0">
              <a:solidFill>
                <a:srgbClr val="64748B"/>
              </a:solidFill>
              <a:latin typeface="Noto Sans JP"/>
            </a:endParaRPr>
          </a:p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64748B"/>
                </a:solidFill>
                <a:latin typeface="Noto Sans JP"/>
              </a:rPr>
              <a:t>「</a:t>
            </a:r>
            <a:r>
              <a:rPr sz="1500" b="0" i="0" u="none" dirty="0" err="1">
                <a:solidFill>
                  <a:srgbClr val="64748B"/>
                </a:solidFill>
                <a:latin typeface="Noto Sans JP"/>
              </a:rPr>
              <a:t>生きる力」を育みます</a:t>
            </a:r>
            <a:r>
              <a:rPr sz="1500" b="0" i="0" u="none" dirty="0">
                <a:solidFill>
                  <a:srgbClr val="64748B"/>
                </a:solidFill>
                <a:latin typeface="Noto Sans JP"/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473</Words>
  <Application>Microsoft Office PowerPoint</Application>
  <PresentationFormat>ワイド画面</PresentationFormat>
  <Paragraphs>96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Noto Sans JP</vt:lpstr>
      <vt:lpstr>Plus Jakarta Sans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田中 耕太郎</cp:lastModifiedBy>
  <cp:revision>2</cp:revision>
  <dcterms:created xsi:type="dcterms:W3CDTF">2013-01-27T09:14:16Z</dcterms:created>
  <dcterms:modified xsi:type="dcterms:W3CDTF">2026-08-21T05:18:10Z</dcterms:modified>
  <cp:category/>
</cp:coreProperties>
</file>